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73CFFF"/>
                </a:solidFill>
                <a:latin typeface="Montserrat"/>
              </a:defRPr>
            </a:pPr>
            <a:r>
              <a:t>NETGUARD | BÁO CÁO SỰ CỐ AN NINH MẠNG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5FF"/>
                </a:solidFill>
                <a:latin typeface="Inter"/>
              </a:defRPr>
            </a:pPr>
            <a:r>
              <a:t>Từ nhật ký cảnh báo đến báo cáo dễ hiểu cho khách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3383280" cy="2011680"/>
          </a:xfrm>
          <a:prstGeom prst="roundRect">
            <a:avLst/>
          </a:prstGeom>
          <a:solidFill>
            <a:srgbClr val="0D2649"/>
          </a:solidFill>
          <a:ln w="25400">
            <a:solidFill>
              <a:srgbClr val="41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>
              <a:defRPr sz="1900" b="1">
                <a:solidFill>
                  <a:srgbClr val="419BFF"/>
                </a:solidFill>
                <a:latin typeface="Montserrat"/>
              </a:defRPr>
            </a:pPr>
            <a:r>
              <a:t>01  DỮ LIỆU THÔ</a:t>
            </a:r>
          </a:p>
          <a:p>
            <a:pPr>
              <a:spcBef>
                <a:spcPts val="1000"/>
              </a:spcBef>
              <a:defRPr sz="1400">
                <a:solidFill>
                  <a:srgbClr val="EBF2FA"/>
                </a:solidFill>
                <a:latin typeface="Inter"/>
              </a:defRPr>
            </a:pPr>
            <a:r>
              <a:t>Thời gian • IP nguồn/đích</a:t>
            </a:r>
            <a:br/>
            <a:r>
              <a:t>Mã loại mã độc • Mức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6512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4D2FF"/>
                </a:solidFill>
                <a:latin typeface="Inter"/>
              </a:defRPr>
            </a:pPr>
            <a:r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057400"/>
            <a:ext cx="2926080" cy="2011680"/>
          </a:xfrm>
          <a:prstGeom prst="roundRect">
            <a:avLst/>
          </a:prstGeom>
          <a:solidFill>
            <a:srgbClr val="0D2649"/>
          </a:solidFill>
          <a:ln w="25400">
            <a:solidFill>
              <a:srgbClr val="41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>
              <a:defRPr sz="1900" b="1">
                <a:solidFill>
                  <a:srgbClr val="419BFF"/>
                </a:solidFill>
                <a:latin typeface="Montserrat"/>
              </a:defRPr>
            </a:pPr>
            <a:r>
              <a:t>02  TRA CỨU</a:t>
            </a:r>
          </a:p>
          <a:p>
            <a:pPr>
              <a:spcBef>
                <a:spcPts val="1000"/>
              </a:spcBef>
              <a:defRPr sz="1400">
                <a:solidFill>
                  <a:srgbClr val="EBF2FA"/>
                </a:solidFill>
                <a:latin typeface="Inter"/>
              </a:defRPr>
            </a:pPr>
            <a:r>
              <a:t>TRIM bỏ khoảng trắng</a:t>
            </a:r>
            <a:br/>
            <a:r>
              <a:t>VLOOKUP tìm tên và mô tả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5AE6BE"/>
                </a:solidFill>
                <a:latin typeface="Inter"/>
              </a:defRPr>
            </a:pPr>
            <a:r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057400"/>
            <a:ext cx="3383280" cy="2011680"/>
          </a:xfrm>
          <a:prstGeom prst="roundRect">
            <a:avLst/>
          </a:prstGeom>
          <a:solidFill>
            <a:srgbClr val="0D2649"/>
          </a:solidFill>
          <a:ln w="25400">
            <a:solidFill>
              <a:srgbClr val="46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>
              <a:defRPr sz="1900" b="1">
                <a:solidFill>
                  <a:srgbClr val="46DCB4"/>
                </a:solidFill>
                <a:latin typeface="Montserrat"/>
              </a:defRPr>
            </a:pPr>
            <a:r>
              <a:t>03  BÁO CÁO</a:t>
            </a:r>
          </a:p>
          <a:p>
            <a:pPr>
              <a:spcBef>
                <a:spcPts val="1000"/>
              </a:spcBef>
              <a:defRPr sz="1400">
                <a:solidFill>
                  <a:srgbClr val="EBF2FA"/>
                </a:solidFill>
                <a:latin typeface="Inter"/>
              </a:defRPr>
            </a:pPr>
            <a:r>
              <a:t>Lọc cảnh báo</a:t>
            </a:r>
            <a:br/>
            <a:r>
              <a:t>Tổng hợp và đề xuất xử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F0FA"/>
                </a:solidFill>
                <a:latin typeface="Inter"/>
              </a:defRPr>
            </a:pPr>
            <a:r>
              <a:t>Mục tiêu: dữ liệu rõ ràng, tra cứu chính xác và ưu tiên xử lý cảnh báo có rủi ro cao.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AFCD"/>
                </a:solidFill>
                <a:latin typeface="Inter"/>
              </a:defRPr>
            </a:pPr>
            <a:r>
              <a:t>Dữ liệu trên slide là ví dụ phục vụ học tập.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73CFFF"/>
                </a:solidFill>
                <a:latin typeface="Montserrat"/>
              </a:defRPr>
            </a:pPr>
            <a:r>
              <a:t>CHIẾN LƯỢC PHÒNG THỦ 3 TẦNG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1EBF8"/>
                </a:solidFill>
                <a:latin typeface="Inter"/>
              </a:defRPr>
            </a:pPr>
            <a:r>
              <a:t>Phòng ngừa → Phát hiện → Ứng phó và khôi phục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07040" cy="1051560"/>
          </a:xfrm>
          <a:prstGeom prst="roundRect">
            <a:avLst/>
          </a:prstGeom>
          <a:solidFill>
            <a:srgbClr val="0D2649"/>
          </a:solidFill>
          <a:ln w="25400">
            <a:solidFill>
              <a:srgbClr val="5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>
              <a:defRPr sz="1900" b="1">
                <a:solidFill>
                  <a:srgbClr val="5AAAFF"/>
                </a:solidFill>
                <a:latin typeface="Montserrat"/>
              </a:defRPr>
            </a:pPr>
            <a:r>
              <a:t>TẦNG 1 — PHÒNG NGỪA</a:t>
            </a:r>
          </a:p>
          <a:p>
            <a:pPr>
              <a:spcBef>
                <a:spcPts val="1000"/>
              </a:spcBef>
              <a:defRPr sz="1400">
                <a:solidFill>
                  <a:srgbClr val="EBF2FA"/>
                </a:solidFill>
                <a:latin typeface="Inter"/>
              </a:defRPr>
            </a:pPr>
            <a:r>
              <a:t>Cập nhật phần mềm • Mật khẩu mạnh và MFA • Phân quyền tối thiểu • Đào tạo người dùng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AAAFF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82112"/>
            <a:ext cx="10607040" cy="1051560"/>
          </a:xfrm>
          <a:prstGeom prst="roundRect">
            <a:avLst/>
          </a:prstGeom>
          <a:solidFill>
            <a:srgbClr val="0D2649"/>
          </a:solidFill>
          <a:ln w="25400">
            <a:solidFill>
              <a:srgbClr val="5A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>
              <a:defRPr sz="1900" b="1">
                <a:solidFill>
                  <a:srgbClr val="5ADCC8"/>
                </a:solidFill>
                <a:latin typeface="Montserrat"/>
              </a:defRPr>
            </a:pPr>
            <a:r>
              <a:t>TẦNG 2 — PHÁT HIỆN</a:t>
            </a:r>
          </a:p>
          <a:p>
            <a:pPr>
              <a:spcBef>
                <a:spcPts val="1000"/>
              </a:spcBef>
              <a:defRPr sz="1400">
                <a:solidFill>
                  <a:srgbClr val="EBF2FA"/>
                </a:solidFill>
                <a:latin typeface="Inter"/>
              </a:defRPr>
            </a:pPr>
            <a:r>
              <a:t>Thu thập nhật ký • Giám sát mạng • Bảo vệ thiết bị đầu cuối • Cảnh báo hành vi bất thường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33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ADCC8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35424"/>
            <a:ext cx="10607040" cy="1051560"/>
          </a:xfrm>
          <a:prstGeom prst="roundRect">
            <a:avLst/>
          </a:prstGeom>
          <a:solidFill>
            <a:srgbClr val="0D2649"/>
          </a:solidFill>
          <a:ln w="254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>
              <a:defRPr sz="1900" b="1">
                <a:solidFill>
                  <a:srgbClr val="FFB45A"/>
                </a:solidFill>
                <a:latin typeface="Montserrat"/>
              </a:defRPr>
            </a:pPr>
            <a:r>
              <a:t>TẦNG 3 — ỨNG PHÓ &amp; KHÔI PHỤC</a:t>
            </a:r>
          </a:p>
          <a:p>
            <a:pPr>
              <a:spcBef>
                <a:spcPts val="1000"/>
              </a:spcBef>
              <a:defRPr sz="1400">
                <a:solidFill>
                  <a:srgbClr val="EBF2FA"/>
                </a:solidFill>
                <a:latin typeface="Inter"/>
              </a:defRPr>
            </a:pPr>
            <a:r>
              <a:t>Cô lập thiết bị nghi nhiễm • Lưu bằng chứng • Xử lý sự cố • Khôi phục từ bản sao lưu sạch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3D2E6"/>
                </a:solidFill>
                <a:latin typeface="Inter"/>
              </a:defRPr>
            </a:pPr>
            <a:r>
              <a:t>Ba tầng cần phối hợp; không có biện pháp đơn lẻ nào bảo vệ hệ thống hoàn toàn.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nghị lâm</cp:lastModifiedBy>
  <cp:revision>1</cp:revision>
  <dcterms:created xsi:type="dcterms:W3CDTF">2013-01-27T09:14:16Z</dcterms:created>
  <dcterms:modified xsi:type="dcterms:W3CDTF">2026-10-26T14:43:05Z</dcterms:modified>
  <cp:category/>
</cp:coreProperties>
</file>